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ra SemiBold"/>
      <p:regular r:id="rId20"/>
      <p:bold r:id="rId21"/>
    </p:embeddedFont>
    <p:embeddedFont>
      <p:font typeface="IBM Plex Sans Medium"/>
      <p:regular r:id="rId22"/>
      <p:bold r:id="rId23"/>
      <p:italic r:id="rId24"/>
      <p:boldItalic r:id="rId25"/>
    </p:embeddedFont>
    <p:embeddedFont>
      <p:font typeface="Sora Light"/>
      <p:regular r:id="rId26"/>
      <p:bold r:id="rId27"/>
    </p:embeddedFont>
    <p:embeddedFont>
      <p:font typeface="Sora ExtraLight"/>
      <p:regular r:id="rId28"/>
      <p:bold r:id="rId29"/>
    </p:embeddedFont>
    <p:embeddedFont>
      <p:font typeface="Sora"/>
      <p:regular r:id="rId30"/>
      <p:bold r:id="rId31"/>
    </p:embeddedFont>
    <p:embeddedFont>
      <p:font typeface="Sora Medium"/>
      <p:regular r:id="rId32"/>
      <p:bold r:id="rId33"/>
    </p:embeddedFont>
    <p:embeddedFont>
      <p:font typeface="IBM Plex Sa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-bold.fntdata"/><Relationship Id="rId30" Type="http://schemas.openxmlformats.org/officeDocument/2006/relationships/font" Target="fonts/Sora-regular.fntdata"/><Relationship Id="rId33" Type="http://schemas.openxmlformats.org/officeDocument/2006/relationships/font" Target="fonts/SoraMedium-bold.fntdata"/><Relationship Id="rId32" Type="http://schemas.openxmlformats.org/officeDocument/2006/relationships/font" Target="fonts/SoraMedium-regular.fntdata"/><Relationship Id="rId35" Type="http://schemas.openxmlformats.org/officeDocument/2006/relationships/font" Target="fonts/IBMPlexSansSemiBold-bold.fntdata"/><Relationship Id="rId34" Type="http://schemas.openxmlformats.org/officeDocument/2006/relationships/font" Target="fonts/IBMPlexSansSemiBold-regular.fntdata"/><Relationship Id="rId37" Type="http://schemas.openxmlformats.org/officeDocument/2006/relationships/font" Target="fonts/IBMPlexSansSemiBold-boldItalic.fntdata"/><Relationship Id="rId36" Type="http://schemas.openxmlformats.org/officeDocument/2006/relationships/font" Target="fonts/IBMPlexSansSemiBold-italic.fntdata"/><Relationship Id="rId20" Type="http://schemas.openxmlformats.org/officeDocument/2006/relationships/font" Target="fonts/SoraSemiBold-regular.fntdata"/><Relationship Id="rId22" Type="http://schemas.openxmlformats.org/officeDocument/2006/relationships/font" Target="fonts/IBMPlexSansMedium-regular.fntdata"/><Relationship Id="rId21" Type="http://schemas.openxmlformats.org/officeDocument/2006/relationships/font" Target="fonts/SoraSemiBold-bold.fntdata"/><Relationship Id="rId24" Type="http://schemas.openxmlformats.org/officeDocument/2006/relationships/font" Target="fonts/IBMPlexSansMedium-italic.fntdata"/><Relationship Id="rId23" Type="http://schemas.openxmlformats.org/officeDocument/2006/relationships/font" Target="fonts/IBMPlexSansMedium-bold.fntdata"/><Relationship Id="rId26" Type="http://schemas.openxmlformats.org/officeDocument/2006/relationships/font" Target="fonts/SoraLight-regular.fntdata"/><Relationship Id="rId25" Type="http://schemas.openxmlformats.org/officeDocument/2006/relationships/font" Target="fonts/IBMPlexSansMedium-boldItalic.fntdata"/><Relationship Id="rId28" Type="http://schemas.openxmlformats.org/officeDocument/2006/relationships/font" Target="fonts/SoraExtraLight-regular.fntdata"/><Relationship Id="rId27" Type="http://schemas.openxmlformats.org/officeDocument/2006/relationships/font" Target="fonts/SoraLight-bold.fntdata"/><Relationship Id="rId29" Type="http://schemas.openxmlformats.org/officeDocument/2006/relationships/font" Target="fonts/SoraExtra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dec79260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dec79260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dec79260b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dec79260b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dec79260b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dec79260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dec79260b4_0_1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dec79260b4_0_1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dec79260b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dec79260b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dec79260b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dec79260b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dec79260b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3dec79260b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dec79260b4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3dec79260b4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dec79260b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3dec79260b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dec79260b4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dec79260b4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 1">
  <p:cSld name="Title and two columns - Alt 1 (g3dec79260b4_10_0)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86" name="Google Shape;886;p5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87" name="Google Shape;887;p51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88" name="Google Shape;888;p51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89" name="Google Shape;889;p51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 1">
  <p:cSld name="Section title and description Alt 1 (g3dec79260b4_18_0)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2" name="Google Shape;892;p52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893" name="Google Shape;893;p52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4" name="Google Shape;894;p5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 1">
  <p:cSld name="Section title and description Alt 2 (g3dec79260b4_39_0)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3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7" name="Google Shape;897;p5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8" name="Google Shape;898;p53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9" name="Google Shape;899;p5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1">
  <p:cSld name="Roadmap (g3dec79260b4_47_0)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4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2" name="Google Shape;902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3" name="Google Shape;903;p54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04" name="Google Shape;904;p54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05" name="Google Shape;905;p54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06" name="Google Shape;906;p54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07" name="Google Shape;907;p54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08" name="Google Shape;908;p54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09" name="Google Shape;909;p54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0" name="Google Shape;910;p54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1" name="Google Shape;911;p54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2" name="Google Shape;912;p54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3" name="Google Shape;913;p5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1 1">
  <p:cSld name="Roadmap 1 (g3dec79260b4_67_0)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5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16" name="Google Shape;916;p5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7" name="Google Shape;917;p55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8" name="Google Shape;918;p55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9" name="Google Shape;919;p55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20" name="Google Shape;920;p55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21" name="Google Shape;921;p55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22" name="Google Shape;922;p55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23" name="Google Shape;923;p55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24" name="Google Shape;924;p55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25" name="Google Shape;925;p55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26" name="Google Shape;926;p55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27" name="Google Shape;927;p55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 1 1">
  <p:cSld name="Title and two columns - Alt 1 1 (g3dec79260b4_75_0)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30" name="Google Shape;930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31" name="Google Shape;931;p56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932" name="Google Shape;932;p56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33" name="Google Shape;933;p56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 1">
  <p:cSld name="Title and body - Alt 2 (g3dec79260b4_83_0)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36" name="Google Shape;936;p57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37" name="Google Shape;937;p57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38" name="Google Shape;938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 1">
  <p:cSld name="Three big ideas Alt 2 (g3dec79260b4_119_0)">
    <p:bg>
      <p:bgPr>
        <a:solidFill>
          <a:schemeClr val="lt1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1" name="Google Shape;941;p5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2" name="Google Shape;942;p5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43" name="Google Shape;943;p5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4" name="Google Shape;944;p5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45" name="Google Shape;945;p5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46" name="Google Shape;946;p5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47" name="Google Shape;947;p5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48" name="Google Shape;948;p5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49" name="Google Shape;949;p5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50" name="Google Shape;950;p5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51" name="Google Shape;951;p5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1 1 1">
  <p:cSld name="Roadmap 1 1 (g3dedcbeb906_7_0)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9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54" name="Google Shape;954;p5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55" name="Google Shape;955;p59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56" name="Google Shape;956;p59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57" name="Google Shape;957;p59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58" name="Google Shape;958;p59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61" name="Google Shape;961;p59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62" name="Google Shape;962;p59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63" name="Google Shape;963;p59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64" name="Google Shape;964;p59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65" name="Google Shape;965;p59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1 1 1 1">
  <p:cSld name="Roadmap 1 1 1 (g3dedcbeb906_14_0)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68" name="Google Shape;968;p6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69" name="Google Shape;969;p6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70" name="Google Shape;970;p6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71" name="Google Shape;971;p6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72" name="Google Shape;972;p6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73" name="Google Shape;973;p6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74" name="Google Shape;974;p6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5" name="Google Shape;975;p6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6" name="Google Shape;976;p6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7" name="Google Shape;977;p6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78" name="Google Shape;978;p6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9" name="Google Shape;979;p6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 1 1">
  <p:cSld name="Section title and description Alt 1 1 (g3dedcbeb906_45_0)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2" name="Google Shape;982;p61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983" name="Google Shape;983;p6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4" name="Google Shape;984;p6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2"/>
          <p:cNvSpPr txBox="1"/>
          <p:nvPr>
            <p:ph idx="2" type="subTitle"/>
          </p:nvPr>
        </p:nvSpPr>
        <p:spPr>
          <a:xfrm>
            <a:off x="138475" y="4514375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Team Sleepyyy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0" name="Google Shape;990;p6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VerifAI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1" name="Google Shape;991;p62"/>
          <p:cNvSpPr txBox="1"/>
          <p:nvPr>
            <p:ph idx="1" type="subTitle"/>
          </p:nvPr>
        </p:nvSpPr>
        <p:spPr>
          <a:xfrm>
            <a:off x="138475" y="4714625"/>
            <a:ext cx="5192400" cy="33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TEAM MEMBERS: Archit Kumar Sahoo, Omkar Narayan Mishra, Moksha Singh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3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997" name="Google Shape;997;p63"/>
          <p:cNvSpPr/>
          <p:nvPr/>
        </p:nvSpPr>
        <p:spPr>
          <a:xfrm>
            <a:off x="6818025" y="-1861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998" name="Google Shape;998;p63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999" name="Google Shape;999;p63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000" name="Google Shape;1000;p63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1" name="Google Shape;1001;p6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2" name="Google Shape;1002;p6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3" name="Google Shape;1003;p6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4" name="Google Shape;1004;p6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05" name="Google Shape;1005;p63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1006" name="Google Shape;1006;p63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7" name="Google Shape;1007;p6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8" name="Google Shape;1008;p6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09" name="Google Shape;1009;p6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10" name="Google Shape;1010;p6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11" name="Google Shape;1011;p63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12" name="Google Shape;1012;p63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3" name="Google Shape;1013;p63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4" name="Google Shape;1014;p6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Sleepyyy</a:t>
            </a:r>
            <a:endParaRPr/>
          </a:p>
        </p:txBody>
      </p:sp>
      <p:sp>
        <p:nvSpPr>
          <p:cNvPr id="1015" name="Google Shape;1015;p63"/>
          <p:cNvSpPr/>
          <p:nvPr/>
        </p:nvSpPr>
        <p:spPr>
          <a:xfrm>
            <a:off x="381000" y="1190625"/>
            <a:ext cx="571500" cy="38100"/>
          </a:xfrm>
          <a:prstGeom prst="rect">
            <a:avLst/>
          </a:prstGeom>
          <a:solidFill>
            <a:srgbClr val="FF57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3"/>
          <p:cNvSpPr txBox="1"/>
          <p:nvPr>
            <p:ph type="title"/>
          </p:nvPr>
        </p:nvSpPr>
        <p:spPr>
          <a:xfrm>
            <a:off x="381000" y="38100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Problem</a:t>
            </a:r>
            <a:endParaRPr b="0" sz="4400">
              <a:solidFill>
                <a:srgbClr val="35353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17" name="Google Shape;1017;p63"/>
          <p:cNvGrpSpPr/>
          <p:nvPr/>
        </p:nvGrpSpPr>
        <p:grpSpPr>
          <a:xfrm>
            <a:off x="228600" y="1719400"/>
            <a:ext cx="8001000" cy="2762250"/>
            <a:chOff x="571500" y="1714500"/>
            <a:chExt cx="8001000" cy="2762250"/>
          </a:xfrm>
        </p:grpSpPr>
        <p:sp>
          <p:nvSpPr>
            <p:cNvPr id="1018" name="Google Shape;1018;p63"/>
            <p:cNvSpPr txBox="1"/>
            <p:nvPr/>
          </p:nvSpPr>
          <p:spPr>
            <a:xfrm>
              <a:off x="571500" y="17145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KYC Verification at Scale is Inefficient and Unreliable</a:t>
              </a:r>
              <a:endParaRPr b="0" sz="16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Current systems struggle with the sheer volume and complexity of document processing in India.</a:t>
              </a:r>
              <a:endParaRPr b="0" sz="1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19" name="Google Shape;1019;p63"/>
            <p:cNvSpPr txBox="1"/>
            <p:nvPr/>
          </p:nvSpPr>
          <p:spPr>
            <a:xfrm>
              <a:off x="571500" y="2286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53535"/>
                </a:buClr>
                <a:buSzPts val="1100"/>
                <a:buFont typeface="IBM Plex Sans"/>
                <a:buChar char="●"/>
              </a:pPr>
              <a:r>
                <a:rPr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India processes </a:t>
              </a:r>
              <a:r>
                <a:rPr b="1"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millions of KYC verifications annually</a:t>
              </a:r>
              <a:r>
                <a:rPr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across banking, insurance, and fintech sectors.</a:t>
              </a:r>
              <a:endParaRPr sz="11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53535"/>
                </a:buClr>
                <a:buSzPts val="1100"/>
                <a:buFont typeface="IBM Plex Sans"/>
                <a:buChar char="●"/>
              </a:pPr>
              <a:r>
                <a:rPr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Existing systems rely on </a:t>
              </a:r>
              <a:r>
                <a:rPr b="1"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manual review and basic OCR-based tools</a:t>
              </a:r>
              <a:r>
                <a:rPr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, which lack modern intelligence.</a:t>
              </a:r>
              <a:endParaRPr sz="11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20" name="Google Shape;1020;p63"/>
            <p:cNvSpPr txBox="1"/>
            <p:nvPr/>
          </p:nvSpPr>
          <p:spPr>
            <a:xfrm>
              <a:off x="571500" y="3000375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577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Key Limitations</a:t>
              </a:r>
              <a:endParaRPr b="0" sz="1400">
                <a:solidFill>
                  <a:srgbClr val="FF577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  <p:sp>
          <p:nvSpPr>
            <p:cNvPr id="1021" name="Google Shape;1021;p63"/>
            <p:cNvSpPr txBox="1"/>
            <p:nvPr/>
          </p:nvSpPr>
          <p:spPr>
            <a:xfrm>
              <a:off x="571500" y="3333750"/>
              <a:ext cx="381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reasoning capability</a:t>
              </a:r>
              <a:endParaRPr b="1" sz="11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Systems cannot interpret context, variations, or inconsistencies.</a:t>
              </a:r>
              <a:endParaRPr b="0" sz="1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 false rejection rate (20–30%)</a:t>
              </a:r>
              <a:endParaRPr b="1" sz="11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Valid applications are rejected due to rigid rule matching.</a:t>
              </a:r>
              <a:endParaRPr b="0" sz="1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22" name="Google Shape;1022;p63"/>
            <p:cNvSpPr txBox="1"/>
            <p:nvPr/>
          </p:nvSpPr>
          <p:spPr>
            <a:xfrm>
              <a:off x="4762500" y="3333750"/>
              <a:ext cx="381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Lack of explainability</a:t>
              </a:r>
              <a:endParaRPr b="1" sz="11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Decisions provide no audit trail or justification for outcomes.</a:t>
              </a:r>
              <a:endParaRPr b="0" sz="1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Inadequate fraud detection</a:t>
              </a:r>
              <a:endParaRPr b="1" sz="11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Tampered or edited documents often go undetected by basic tools.</a:t>
              </a:r>
              <a:endParaRPr b="0" sz="1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64"/>
          <p:cNvGrpSpPr/>
          <p:nvPr/>
        </p:nvGrpSpPr>
        <p:grpSpPr>
          <a:xfrm>
            <a:off x="-190500" y="-571500"/>
            <a:ext cx="9906000" cy="5905500"/>
            <a:chOff x="-190500" y="-571500"/>
            <a:chExt cx="9906000" cy="5905500"/>
          </a:xfrm>
        </p:grpSpPr>
        <p:sp>
          <p:nvSpPr>
            <p:cNvPr id="1028" name="Google Shape;1028;p64"/>
            <p:cNvSpPr/>
            <p:nvPr/>
          </p:nvSpPr>
          <p:spPr>
            <a:xfrm>
              <a:off x="7810500" y="-571500"/>
              <a:ext cx="1905000" cy="1905000"/>
            </a:xfrm>
            <a:prstGeom prst="ellipse">
              <a:avLst/>
            </a:prstGeom>
            <a:solidFill>
              <a:srgbClr val="F0B03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4"/>
            <p:cNvSpPr/>
            <p:nvPr/>
          </p:nvSpPr>
          <p:spPr>
            <a:xfrm>
              <a:off x="-190500" y="4191000"/>
              <a:ext cx="1143000" cy="1143000"/>
            </a:xfrm>
            <a:prstGeom prst="ellipse">
              <a:avLst/>
            </a:prstGeom>
            <a:solidFill>
              <a:srgbClr val="41CC6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64"/>
          <p:cNvGrpSpPr/>
          <p:nvPr/>
        </p:nvGrpSpPr>
        <p:grpSpPr>
          <a:xfrm>
            <a:off x="38100" y="95250"/>
            <a:ext cx="8724900" cy="1038225"/>
            <a:chOff x="38100" y="95250"/>
            <a:chExt cx="8724900" cy="1038225"/>
          </a:xfrm>
        </p:grpSpPr>
        <p:sp>
          <p:nvSpPr>
            <p:cNvPr id="1031" name="Google Shape;1031;p64"/>
            <p:cNvSpPr/>
            <p:nvPr/>
          </p:nvSpPr>
          <p:spPr>
            <a:xfrm>
              <a:off x="381000" y="1095375"/>
              <a:ext cx="571500" cy="38100"/>
            </a:xfrm>
            <a:prstGeom prst="rect">
              <a:avLst/>
            </a:prstGeom>
            <a:solidFill>
              <a:srgbClr val="F0B0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4"/>
            <p:cNvSpPr txBox="1"/>
            <p:nvPr/>
          </p:nvSpPr>
          <p:spPr>
            <a:xfrm>
              <a:off x="381000" y="381000"/>
              <a:ext cx="838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Solution: VerifAI</a:t>
              </a:r>
              <a:endParaRPr b="0" sz="36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33" name="Google Shape;1033;p64"/>
            <p:cNvSpPr txBox="1"/>
            <p:nvPr/>
          </p:nvSpPr>
          <p:spPr>
            <a:xfrm>
              <a:off x="38100" y="95250"/>
              <a:ext cx="1905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9615E"/>
                  </a:solidFill>
                  <a:latin typeface="Sora"/>
                  <a:ea typeface="Sora"/>
                  <a:cs typeface="Sora"/>
                  <a:sym typeface="Sora"/>
                </a:rPr>
                <a:t>Team sleepyyy</a:t>
              </a:r>
              <a:endParaRPr sz="9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34" name="Google Shape;1034;p64"/>
          <p:cNvSpPr txBox="1"/>
          <p:nvPr/>
        </p:nvSpPr>
        <p:spPr>
          <a:xfrm>
            <a:off x="381000" y="1333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An AI-Powered KYC Verification Agent</a:t>
            </a:r>
            <a:endParaRPr b="0" sz="1295">
              <a:solidFill>
                <a:srgbClr val="353535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VerifAI introduces an </a:t>
            </a:r>
            <a:r>
              <a:rPr b="0" lang="en" sz="1018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agent-based approach</a:t>
            </a:r>
            <a:r>
              <a:rPr b="0" lang="en" sz="1018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 document verification that goes beyond extraction and enables </a:t>
            </a:r>
            <a:r>
              <a:rPr b="0" lang="en" sz="1018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reasoning, validation, and explainability</a:t>
            </a:r>
            <a:r>
              <a:rPr b="0" lang="en" sz="1018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sz="1018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35" name="Google Shape;1035;p64"/>
          <p:cNvGrpSpPr/>
          <p:nvPr/>
        </p:nvGrpSpPr>
        <p:grpSpPr>
          <a:xfrm>
            <a:off x="381000" y="2047875"/>
            <a:ext cx="8001150" cy="2238525"/>
            <a:chOff x="381000" y="2047875"/>
            <a:chExt cx="8001150" cy="2238525"/>
          </a:xfrm>
        </p:grpSpPr>
        <p:grpSp>
          <p:nvGrpSpPr>
            <p:cNvPr id="1036" name="Google Shape;1036;p64"/>
            <p:cNvGrpSpPr/>
            <p:nvPr/>
          </p:nvGrpSpPr>
          <p:grpSpPr>
            <a:xfrm>
              <a:off x="381000" y="2047875"/>
              <a:ext cx="2571900" cy="1047900"/>
              <a:chOff x="381000" y="2047875"/>
              <a:chExt cx="2571900" cy="1047900"/>
            </a:xfrm>
          </p:grpSpPr>
          <p:sp>
            <p:nvSpPr>
              <p:cNvPr id="1037" name="Google Shape;1037;p64"/>
              <p:cNvSpPr/>
              <p:nvPr/>
            </p:nvSpPr>
            <p:spPr>
              <a:xfrm>
                <a:off x="381000" y="2047875"/>
                <a:ext cx="25719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64"/>
              <p:cNvSpPr txBox="1"/>
              <p:nvPr/>
            </p:nvSpPr>
            <p:spPr>
              <a:xfrm>
                <a:off x="523875" y="2143125"/>
                <a:ext cx="2286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285F4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Structured Extraction</a:t>
                </a:r>
                <a:endParaRPr b="0" sz="1200">
                  <a:solidFill>
                    <a:srgbClr val="4285F4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53535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Uses Vision-Language Models to extract key fields with confidence scores</a:t>
                </a:r>
                <a:endParaRPr b="0" sz="10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039" name="Google Shape;1039;p64"/>
            <p:cNvGrpSpPr/>
            <p:nvPr/>
          </p:nvGrpSpPr>
          <p:grpSpPr>
            <a:xfrm>
              <a:off x="3095625" y="2047875"/>
              <a:ext cx="2571900" cy="1047900"/>
              <a:chOff x="3095625" y="2047875"/>
              <a:chExt cx="2571900" cy="1047900"/>
            </a:xfrm>
          </p:grpSpPr>
          <p:sp>
            <p:nvSpPr>
              <p:cNvPr id="1040" name="Google Shape;1040;p64"/>
              <p:cNvSpPr/>
              <p:nvPr/>
            </p:nvSpPr>
            <p:spPr>
              <a:xfrm>
                <a:off x="3095625" y="2047875"/>
                <a:ext cx="25719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64"/>
              <p:cNvSpPr txBox="1"/>
              <p:nvPr/>
            </p:nvSpPr>
            <p:spPr>
              <a:xfrm>
                <a:off x="3238500" y="2143125"/>
                <a:ext cx="2286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5777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Tamper Detection</a:t>
                </a:r>
                <a:endParaRPr b="0" sz="1200">
                  <a:solidFill>
                    <a:srgbClr val="FF577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53535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Detects edited documents using Error Level Analysis (ELA) and EXIF metadata</a:t>
                </a:r>
                <a:endParaRPr b="0" sz="10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042" name="Google Shape;1042;p64"/>
            <p:cNvGrpSpPr/>
            <p:nvPr/>
          </p:nvGrpSpPr>
          <p:grpSpPr>
            <a:xfrm>
              <a:off x="5810250" y="2047875"/>
              <a:ext cx="2571900" cy="1047900"/>
              <a:chOff x="5810250" y="2047875"/>
              <a:chExt cx="2571900" cy="1047900"/>
            </a:xfrm>
          </p:grpSpPr>
          <p:sp>
            <p:nvSpPr>
              <p:cNvPr id="1043" name="Google Shape;1043;p64"/>
              <p:cNvSpPr/>
              <p:nvPr/>
            </p:nvSpPr>
            <p:spPr>
              <a:xfrm>
                <a:off x="5810250" y="2047875"/>
                <a:ext cx="25719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64"/>
              <p:cNvSpPr txBox="1"/>
              <p:nvPr/>
            </p:nvSpPr>
            <p:spPr>
              <a:xfrm>
                <a:off x="5953125" y="2143125"/>
                <a:ext cx="2286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1CC6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Cross-Verification</a:t>
                </a:r>
                <a:endParaRPr b="0" sz="1200">
                  <a:solidFill>
                    <a:srgbClr val="41CC6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53535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Performs semantic matching across documents to identify inconsistencies</a:t>
                </a:r>
                <a:endParaRPr b="0" sz="10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045" name="Google Shape;1045;p64"/>
            <p:cNvGrpSpPr/>
            <p:nvPr/>
          </p:nvGrpSpPr>
          <p:grpSpPr>
            <a:xfrm>
              <a:off x="1733550" y="3238500"/>
              <a:ext cx="2571900" cy="1047900"/>
              <a:chOff x="1733550" y="3238500"/>
              <a:chExt cx="2571900" cy="1047900"/>
            </a:xfrm>
          </p:grpSpPr>
          <p:sp>
            <p:nvSpPr>
              <p:cNvPr id="1046" name="Google Shape;1046;p64"/>
              <p:cNvSpPr/>
              <p:nvPr/>
            </p:nvSpPr>
            <p:spPr>
              <a:xfrm>
                <a:off x="1733550" y="3238500"/>
                <a:ext cx="25719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64"/>
              <p:cNvSpPr txBox="1"/>
              <p:nvPr/>
            </p:nvSpPr>
            <p:spPr>
              <a:xfrm>
                <a:off x="1876425" y="3333750"/>
                <a:ext cx="2286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0B03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Automated Compliance</a:t>
                </a:r>
                <a:endParaRPr b="0" sz="1200">
                  <a:solidFill>
                    <a:srgbClr val="F0B03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53535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Applies RBI KYC and AML rules through an auditable rule engine</a:t>
                </a:r>
                <a:endParaRPr b="0" sz="10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048" name="Google Shape;1048;p64"/>
            <p:cNvGrpSpPr/>
            <p:nvPr/>
          </p:nvGrpSpPr>
          <p:grpSpPr>
            <a:xfrm>
              <a:off x="4457700" y="3238500"/>
              <a:ext cx="2571900" cy="1047900"/>
              <a:chOff x="4457700" y="3238500"/>
              <a:chExt cx="2571900" cy="1047900"/>
            </a:xfrm>
          </p:grpSpPr>
          <p:sp>
            <p:nvSpPr>
              <p:cNvPr id="1049" name="Google Shape;1049;p64"/>
              <p:cNvSpPr/>
              <p:nvPr/>
            </p:nvSpPr>
            <p:spPr>
              <a:xfrm>
                <a:off x="4457700" y="3238500"/>
                <a:ext cx="25719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64"/>
              <p:cNvSpPr txBox="1"/>
              <p:nvPr/>
            </p:nvSpPr>
            <p:spPr>
              <a:xfrm>
                <a:off x="4600575" y="3333750"/>
                <a:ext cx="2286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Explainable Decisions</a:t>
                </a:r>
                <a:endParaRPr b="0" sz="12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53535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Generates clear, human-readable justifications for every outcome</a:t>
                </a:r>
                <a:endParaRPr b="0" sz="10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grpSp>
        <p:nvGrpSpPr>
          <p:cNvPr id="1051" name="Google Shape;1051;p64"/>
          <p:cNvGrpSpPr/>
          <p:nvPr/>
        </p:nvGrpSpPr>
        <p:grpSpPr>
          <a:xfrm>
            <a:off x="381000" y="4524375"/>
            <a:ext cx="8382000" cy="381000"/>
            <a:chOff x="381000" y="4524375"/>
            <a:chExt cx="8382000" cy="381000"/>
          </a:xfrm>
        </p:grpSpPr>
        <p:sp>
          <p:nvSpPr>
            <p:cNvPr id="1052" name="Google Shape;1052;p64"/>
            <p:cNvSpPr/>
            <p:nvPr/>
          </p:nvSpPr>
          <p:spPr>
            <a:xfrm>
              <a:off x="381000" y="4524375"/>
              <a:ext cx="8382000" cy="381000"/>
            </a:xfrm>
            <a:prstGeom prst="roundRect">
              <a:avLst>
                <a:gd fmla="val 50000" name="adj"/>
              </a:avLst>
            </a:prstGeom>
            <a:solidFill>
              <a:srgbClr val="F0B03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4"/>
            <p:cNvSpPr txBox="1"/>
            <p:nvPr/>
          </p:nvSpPr>
          <p:spPr>
            <a:xfrm>
              <a:off x="571500" y="4524375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Outcome: Reliable, Transparent, and Automated KYC Processing</a:t>
              </a:r>
              <a:endParaRPr b="0" sz="12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DFD6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5"/>
          <p:cNvSpPr txBox="1"/>
          <p:nvPr>
            <p:ph type="title"/>
          </p:nvPr>
        </p:nvSpPr>
        <p:spPr>
          <a:xfrm>
            <a:off x="381000" y="1905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rPr>
              <a:t>Team Sleepyyy</a:t>
            </a:r>
            <a:endParaRPr b="0" sz="1000">
              <a:solidFill>
                <a:srgbClr val="69615E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059" name="Google Shape;1059;p65"/>
          <p:cNvGrpSpPr/>
          <p:nvPr/>
        </p:nvGrpSpPr>
        <p:grpSpPr>
          <a:xfrm>
            <a:off x="381000" y="571500"/>
            <a:ext cx="8382000" cy="561975"/>
            <a:chOff x="381000" y="571500"/>
            <a:chExt cx="8382000" cy="561975"/>
          </a:xfrm>
        </p:grpSpPr>
        <p:sp>
          <p:nvSpPr>
            <p:cNvPr id="1060" name="Google Shape;1060;p65"/>
            <p:cNvSpPr txBox="1"/>
            <p:nvPr/>
          </p:nvSpPr>
          <p:spPr>
            <a:xfrm>
              <a:off x="381000" y="57150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Identity Verification Pipeline</a:t>
              </a:r>
              <a:endParaRPr b="0" sz="28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381000" y="1095375"/>
              <a:ext cx="571500" cy="381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2" name="Google Shape;1062;p65"/>
          <p:cNvGrpSpPr/>
          <p:nvPr/>
        </p:nvGrpSpPr>
        <p:grpSpPr>
          <a:xfrm>
            <a:off x="381000" y="1333500"/>
            <a:ext cx="1905000" cy="571500"/>
            <a:chOff x="381000" y="1333500"/>
            <a:chExt cx="1905000" cy="571500"/>
          </a:xfrm>
        </p:grpSpPr>
        <p:sp>
          <p:nvSpPr>
            <p:cNvPr id="1063" name="Google Shape;1063;p65"/>
            <p:cNvSpPr/>
            <p:nvPr/>
          </p:nvSpPr>
          <p:spPr>
            <a:xfrm>
              <a:off x="381000" y="133350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 txBox="1"/>
            <p:nvPr/>
          </p:nvSpPr>
          <p:spPr>
            <a:xfrm>
              <a:off x="381000" y="1333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INPUT DOCUMENTS</a:t>
              </a:r>
              <a:endParaRPr b="1" sz="1000">
                <a:solidFill>
                  <a:srgbClr val="4285F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Aadhaar | PAN | Utility Bill</a:t>
              </a:r>
              <a:endParaRPr sz="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65" name="Google Shape;1065;p65"/>
          <p:cNvCxnSpPr/>
          <p:nvPr/>
        </p:nvCxnSpPr>
        <p:spPr>
          <a:xfrm>
            <a:off x="1333500" y="1905000"/>
            <a:ext cx="0" cy="1905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6" name="Google Shape;1066;p65"/>
          <p:cNvGrpSpPr/>
          <p:nvPr/>
        </p:nvGrpSpPr>
        <p:grpSpPr>
          <a:xfrm>
            <a:off x="381000" y="2095500"/>
            <a:ext cx="1905000" cy="571500"/>
            <a:chOff x="381000" y="2095500"/>
            <a:chExt cx="1905000" cy="571500"/>
          </a:xfrm>
        </p:grpSpPr>
        <p:sp>
          <p:nvSpPr>
            <p:cNvPr id="1067" name="Google Shape;1067;p65"/>
            <p:cNvSpPr/>
            <p:nvPr/>
          </p:nvSpPr>
          <p:spPr>
            <a:xfrm>
              <a:off x="381000" y="209550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 txBox="1"/>
            <p:nvPr/>
          </p:nvSpPr>
          <p:spPr>
            <a:xfrm>
              <a:off x="381000" y="2095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PREPROCESSING</a:t>
              </a:r>
              <a:endParaRPr b="1" sz="1000">
                <a:solidFill>
                  <a:srgbClr val="4285F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Base64 Encoding</a:t>
              </a:r>
              <a:endParaRPr sz="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69" name="Google Shape;1069;p65"/>
          <p:cNvCxnSpPr/>
          <p:nvPr/>
        </p:nvCxnSpPr>
        <p:spPr>
          <a:xfrm>
            <a:off x="2286000" y="2381250"/>
            <a:ext cx="2859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0" name="Google Shape;1070;p65"/>
          <p:cNvGrpSpPr/>
          <p:nvPr/>
        </p:nvGrpSpPr>
        <p:grpSpPr>
          <a:xfrm>
            <a:off x="2571750" y="2095500"/>
            <a:ext cx="1905000" cy="571500"/>
            <a:chOff x="2571750" y="2095500"/>
            <a:chExt cx="1905000" cy="571500"/>
          </a:xfrm>
        </p:grpSpPr>
        <p:sp>
          <p:nvSpPr>
            <p:cNvPr id="1071" name="Google Shape;1071;p65"/>
            <p:cNvSpPr/>
            <p:nvPr/>
          </p:nvSpPr>
          <p:spPr>
            <a:xfrm>
              <a:off x="2571750" y="209550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 txBox="1"/>
            <p:nvPr/>
          </p:nvSpPr>
          <p:spPr>
            <a:xfrm>
              <a:off x="2571750" y="2095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UNIFIED PROMPT</a:t>
              </a:r>
              <a:endParaRPr b="1" sz="1000">
                <a:solidFill>
                  <a:srgbClr val="4285F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GPT-4o Vision Processing</a:t>
              </a:r>
              <a:endParaRPr sz="9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73" name="Google Shape;1073;p65"/>
          <p:cNvCxnSpPr/>
          <p:nvPr/>
        </p:nvCxnSpPr>
        <p:spPr>
          <a:xfrm>
            <a:off x="4476750" y="2381250"/>
            <a:ext cx="2859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4" name="Google Shape;1074;p65"/>
          <p:cNvGrpSpPr/>
          <p:nvPr/>
        </p:nvGrpSpPr>
        <p:grpSpPr>
          <a:xfrm>
            <a:off x="4762500" y="2095500"/>
            <a:ext cx="1905000" cy="571500"/>
            <a:chOff x="4762500" y="2095500"/>
            <a:chExt cx="1905000" cy="571500"/>
          </a:xfrm>
        </p:grpSpPr>
        <p:sp>
          <p:nvSpPr>
            <p:cNvPr id="1075" name="Google Shape;1075;p65"/>
            <p:cNvSpPr/>
            <p:nvPr/>
          </p:nvSpPr>
          <p:spPr>
            <a:xfrm>
              <a:off x="4762500" y="209550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 txBox="1"/>
            <p:nvPr/>
          </p:nvSpPr>
          <p:spPr>
            <a:xfrm>
              <a:off x="4762500" y="2095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1CC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EXTRACTION</a:t>
              </a:r>
              <a:endParaRPr b="1" sz="1000">
                <a:solidFill>
                  <a:srgbClr val="41CC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Structured JSON Output</a:t>
              </a:r>
              <a:endParaRPr sz="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77" name="Google Shape;1077;p65"/>
          <p:cNvCxnSpPr/>
          <p:nvPr/>
        </p:nvCxnSpPr>
        <p:spPr>
          <a:xfrm>
            <a:off x="6667500" y="2381250"/>
            <a:ext cx="2859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8" name="Google Shape;1078;p65"/>
          <p:cNvGrpSpPr/>
          <p:nvPr/>
        </p:nvGrpSpPr>
        <p:grpSpPr>
          <a:xfrm>
            <a:off x="6953250" y="2095500"/>
            <a:ext cx="1905000" cy="571500"/>
            <a:chOff x="6953250" y="2095500"/>
            <a:chExt cx="1905000" cy="571500"/>
          </a:xfrm>
        </p:grpSpPr>
        <p:sp>
          <p:nvSpPr>
            <p:cNvPr id="1079" name="Google Shape;1079;p65"/>
            <p:cNvSpPr/>
            <p:nvPr/>
          </p:nvSpPr>
          <p:spPr>
            <a:xfrm>
              <a:off x="6953250" y="209550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 txBox="1"/>
            <p:nvPr/>
          </p:nvSpPr>
          <p:spPr>
            <a:xfrm>
              <a:off x="6953250" y="2095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577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MAPPING</a:t>
              </a:r>
              <a:endParaRPr b="1" sz="1000">
                <a:solidFill>
                  <a:srgbClr val="FF577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LLM Reasoning &amp; Validation</a:t>
              </a:r>
              <a:endParaRPr sz="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81" name="Google Shape;1081;p65"/>
          <p:cNvCxnSpPr/>
          <p:nvPr/>
        </p:nvCxnSpPr>
        <p:spPr>
          <a:xfrm>
            <a:off x="7905750" y="2667000"/>
            <a:ext cx="0" cy="2859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2" name="Google Shape;1082;p65"/>
          <p:cNvGrpSpPr/>
          <p:nvPr/>
        </p:nvGrpSpPr>
        <p:grpSpPr>
          <a:xfrm>
            <a:off x="6953250" y="2952750"/>
            <a:ext cx="1905000" cy="571500"/>
            <a:chOff x="6953250" y="2952750"/>
            <a:chExt cx="1905000" cy="571500"/>
          </a:xfrm>
        </p:grpSpPr>
        <p:sp>
          <p:nvSpPr>
            <p:cNvPr id="1083" name="Google Shape;1083;p65"/>
            <p:cNvSpPr/>
            <p:nvPr/>
          </p:nvSpPr>
          <p:spPr>
            <a:xfrm>
              <a:off x="6953250" y="295275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 txBox="1"/>
            <p:nvPr/>
          </p:nvSpPr>
          <p:spPr>
            <a:xfrm>
              <a:off x="6953250" y="2952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0B03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FUZZY MATCHING</a:t>
              </a:r>
              <a:endParaRPr b="1" sz="1000">
                <a:solidFill>
                  <a:srgbClr val="F0B03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Typo Resilience Scoring</a:t>
              </a:r>
              <a:endParaRPr sz="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85" name="Google Shape;1085;p65"/>
          <p:cNvCxnSpPr/>
          <p:nvPr/>
        </p:nvCxnSpPr>
        <p:spPr>
          <a:xfrm rot="10800000">
            <a:off x="6667350" y="3238500"/>
            <a:ext cx="2859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6" name="Google Shape;1086;p65"/>
          <p:cNvGrpSpPr/>
          <p:nvPr/>
        </p:nvGrpSpPr>
        <p:grpSpPr>
          <a:xfrm>
            <a:off x="4762500" y="2952750"/>
            <a:ext cx="1905000" cy="571500"/>
            <a:chOff x="4762500" y="2952750"/>
            <a:chExt cx="1905000" cy="571500"/>
          </a:xfrm>
        </p:grpSpPr>
        <p:sp>
          <p:nvSpPr>
            <p:cNvPr id="1087" name="Google Shape;1087;p65"/>
            <p:cNvSpPr/>
            <p:nvPr/>
          </p:nvSpPr>
          <p:spPr>
            <a:xfrm>
              <a:off x="4762500" y="2952750"/>
              <a:ext cx="1905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 txBox="1"/>
            <p:nvPr/>
          </p:nvSpPr>
          <p:spPr>
            <a:xfrm>
              <a:off x="4762500" y="2952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CONTEXTUAL LOGIC</a:t>
              </a:r>
              <a:endParaRPr b="1" sz="10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Consistency Checks</a:t>
              </a:r>
              <a:endParaRPr sz="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1089" name="Google Shape;1089;p65"/>
          <p:cNvCxnSpPr/>
          <p:nvPr/>
        </p:nvCxnSpPr>
        <p:spPr>
          <a:xfrm rot="10800000">
            <a:off x="3810000" y="3238500"/>
            <a:ext cx="9525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3535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0" name="Google Shape;1090;p65"/>
          <p:cNvGrpSpPr/>
          <p:nvPr/>
        </p:nvGrpSpPr>
        <p:grpSpPr>
          <a:xfrm>
            <a:off x="381000" y="2952750"/>
            <a:ext cx="3429000" cy="952500"/>
            <a:chOff x="381000" y="2952750"/>
            <a:chExt cx="3429000" cy="952500"/>
          </a:xfrm>
        </p:grpSpPr>
        <p:sp>
          <p:nvSpPr>
            <p:cNvPr id="1091" name="Google Shape;1091;p65"/>
            <p:cNvSpPr/>
            <p:nvPr/>
          </p:nvSpPr>
          <p:spPr>
            <a:xfrm>
              <a:off x="381000" y="295275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353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 txBox="1"/>
            <p:nvPr/>
          </p:nvSpPr>
          <p:spPr>
            <a:xfrm>
              <a:off x="381000" y="2952750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EB6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FINAL OUTPUT (DECISION)</a:t>
              </a:r>
              <a:endParaRPr b="1" sz="1300">
                <a:solidFill>
                  <a:srgbClr val="FFEB6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✔ Match / ✖ Mismatch / ⚠ Escalate</a:t>
              </a:r>
              <a:endParaRPr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E3DFD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Confidence Score + Automated Narrative Explanation</a:t>
              </a:r>
              <a:endParaRPr sz="900">
                <a:solidFill>
                  <a:srgbClr val="E3DFD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093" name="Google Shape;1093;p65"/>
          <p:cNvGrpSpPr/>
          <p:nvPr/>
        </p:nvGrpSpPr>
        <p:grpSpPr>
          <a:xfrm>
            <a:off x="381000" y="4381500"/>
            <a:ext cx="8382000" cy="381000"/>
            <a:chOff x="381000" y="4381500"/>
            <a:chExt cx="8382000" cy="381000"/>
          </a:xfrm>
        </p:grpSpPr>
        <p:sp>
          <p:nvSpPr>
            <p:cNvPr id="1094" name="Google Shape;1094;p65"/>
            <p:cNvSpPr/>
            <p:nvPr/>
          </p:nvSpPr>
          <p:spPr>
            <a:xfrm>
              <a:off x="381000" y="4381500"/>
              <a:ext cx="8382000" cy="381000"/>
            </a:xfrm>
            <a:prstGeom prst="roundRect">
              <a:avLst>
                <a:gd fmla="val 50000" name="adj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 txBox="1"/>
            <p:nvPr/>
          </p:nvSpPr>
          <p:spPr>
            <a:xfrm>
              <a:off x="381000" y="4381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Automated Forensic Workflow for Multi-Document Verification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sp>
        <p:nvSpPr>
          <p:cNvPr id="1096" name="Google Shape;1096;p65"/>
          <p:cNvSpPr txBox="1"/>
          <p:nvPr>
            <p:ph idx="3" type="title"/>
          </p:nvPr>
        </p:nvSpPr>
        <p:spPr>
          <a:xfrm>
            <a:off x="381000" y="4857750"/>
            <a:ext cx="1939200" cy="18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rPr>
              <a:t>April 2026</a:t>
            </a:r>
            <a:endParaRPr b="0" sz="900">
              <a:solidFill>
                <a:srgbClr val="69615E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6"/>
          <p:cNvSpPr/>
          <p:nvPr/>
        </p:nvSpPr>
        <p:spPr>
          <a:xfrm>
            <a:off x="7810500" y="-571500"/>
            <a:ext cx="1905000" cy="1905000"/>
          </a:xfrm>
          <a:prstGeom prst="ellipse">
            <a:avLst/>
          </a:prstGeom>
          <a:solidFill>
            <a:srgbClr val="F0B03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6"/>
          <p:cNvSpPr/>
          <p:nvPr/>
        </p:nvSpPr>
        <p:spPr>
          <a:xfrm>
            <a:off x="-190500" y="4191000"/>
            <a:ext cx="1143000" cy="1143000"/>
          </a:xfrm>
          <a:prstGeom prst="ellipse">
            <a:avLst/>
          </a:prstGeom>
          <a:solidFill>
            <a:srgbClr val="41CC6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6"/>
          <p:cNvSpPr txBox="1"/>
          <p:nvPr>
            <p:ph type="title"/>
          </p:nvPr>
        </p:nvSpPr>
        <p:spPr>
          <a:xfrm>
            <a:off x="381000" y="428625"/>
            <a:ext cx="8382000" cy="46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3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Modular Architecture for Absolute Integrity</a:t>
            </a:r>
            <a:endParaRPr b="0" sz="3330">
              <a:solidFill>
                <a:srgbClr val="35353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04" name="Google Shape;1104;p66"/>
          <p:cNvSpPr/>
          <p:nvPr/>
        </p:nvSpPr>
        <p:spPr>
          <a:xfrm>
            <a:off x="381000" y="1095375"/>
            <a:ext cx="571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5" name="Google Shape;1105;p66"/>
          <p:cNvGrpSpPr/>
          <p:nvPr/>
        </p:nvGrpSpPr>
        <p:grpSpPr>
          <a:xfrm>
            <a:off x="381000" y="1381125"/>
            <a:ext cx="2571900" cy="1047900"/>
            <a:chOff x="381000" y="1381125"/>
            <a:chExt cx="2571900" cy="1047900"/>
          </a:xfrm>
        </p:grpSpPr>
        <p:sp>
          <p:nvSpPr>
            <p:cNvPr id="1106" name="Google Shape;1106;p66"/>
            <p:cNvSpPr/>
            <p:nvPr/>
          </p:nvSpPr>
          <p:spPr>
            <a:xfrm>
              <a:off x="381000" y="1381125"/>
              <a:ext cx="2571900" cy="10479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 txBox="1"/>
            <p:nvPr/>
          </p:nvSpPr>
          <p:spPr>
            <a:xfrm>
              <a:off x="381000" y="1381125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1</a:t>
              </a:r>
              <a:endParaRPr b="1" sz="900">
                <a:solidFill>
                  <a:srgbClr val="4285F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ELA</a:t>
              </a:r>
              <a:endParaRPr b="0" sz="13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Detecting digital tampering.</a:t>
              </a:r>
              <a:endParaRPr b="0" sz="1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108" name="Google Shape;1108;p66"/>
          <p:cNvGrpSpPr/>
          <p:nvPr/>
        </p:nvGrpSpPr>
        <p:grpSpPr>
          <a:xfrm>
            <a:off x="3095625" y="1381125"/>
            <a:ext cx="2571900" cy="1047900"/>
            <a:chOff x="3095625" y="1381125"/>
            <a:chExt cx="2571900" cy="1047900"/>
          </a:xfrm>
        </p:grpSpPr>
        <p:sp>
          <p:nvSpPr>
            <p:cNvPr id="1109" name="Google Shape;1109;p66"/>
            <p:cNvSpPr/>
            <p:nvPr/>
          </p:nvSpPr>
          <p:spPr>
            <a:xfrm>
              <a:off x="3095625" y="1381125"/>
              <a:ext cx="2571900" cy="10479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 txBox="1"/>
            <p:nvPr/>
          </p:nvSpPr>
          <p:spPr>
            <a:xfrm>
              <a:off x="3095625" y="1381125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1CC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2</a:t>
              </a:r>
              <a:endParaRPr b="1" sz="900">
                <a:solidFill>
                  <a:srgbClr val="41CC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AI Multimodal Extraction</a:t>
              </a:r>
              <a:endParaRPr b="0" sz="13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Unified vision processing.</a:t>
              </a:r>
              <a:endParaRPr b="0" sz="1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111" name="Google Shape;1111;p66"/>
          <p:cNvGrpSpPr/>
          <p:nvPr/>
        </p:nvGrpSpPr>
        <p:grpSpPr>
          <a:xfrm>
            <a:off x="5810250" y="1381125"/>
            <a:ext cx="2571900" cy="1047900"/>
            <a:chOff x="5810250" y="1381125"/>
            <a:chExt cx="2571900" cy="1047900"/>
          </a:xfrm>
        </p:grpSpPr>
        <p:sp>
          <p:nvSpPr>
            <p:cNvPr id="1112" name="Google Shape;1112;p66"/>
            <p:cNvSpPr/>
            <p:nvPr/>
          </p:nvSpPr>
          <p:spPr>
            <a:xfrm>
              <a:off x="5810250" y="1381125"/>
              <a:ext cx="2571900" cy="10479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 txBox="1"/>
            <p:nvPr/>
          </p:nvSpPr>
          <p:spPr>
            <a:xfrm>
              <a:off x="5810250" y="1381125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0B03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3</a:t>
              </a:r>
              <a:endParaRPr b="1" sz="900">
                <a:solidFill>
                  <a:srgbClr val="F0B03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Identity Mapping</a:t>
              </a:r>
              <a:endParaRPr b="0" sz="13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Resolving name variations &amp; typos.</a:t>
              </a:r>
              <a:endParaRPr b="0" sz="1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114" name="Google Shape;1114;p66"/>
          <p:cNvGrpSpPr/>
          <p:nvPr/>
        </p:nvGrpSpPr>
        <p:grpSpPr>
          <a:xfrm>
            <a:off x="381000" y="2571750"/>
            <a:ext cx="2571900" cy="1047900"/>
            <a:chOff x="381000" y="2571750"/>
            <a:chExt cx="2571900" cy="1047900"/>
          </a:xfrm>
        </p:grpSpPr>
        <p:sp>
          <p:nvSpPr>
            <p:cNvPr id="1115" name="Google Shape;1115;p66"/>
            <p:cNvSpPr/>
            <p:nvPr/>
          </p:nvSpPr>
          <p:spPr>
            <a:xfrm>
              <a:off x="381000" y="2571750"/>
              <a:ext cx="2571900" cy="10479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 txBox="1"/>
            <p:nvPr/>
          </p:nvSpPr>
          <p:spPr>
            <a:xfrm>
              <a:off x="381000" y="2571750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5">
                  <a:solidFill>
                    <a:srgbClr val="FF577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4</a:t>
              </a:r>
              <a:endParaRPr b="1" sz="765">
                <a:solidFill>
                  <a:srgbClr val="FF577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Compliance Engine</a:t>
              </a:r>
              <a:endParaRPr b="0" sz="1105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Regional rule validation (Regex/Freshness).</a:t>
              </a:r>
              <a:endParaRPr b="0"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117" name="Google Shape;1117;p66"/>
          <p:cNvGrpSpPr/>
          <p:nvPr/>
        </p:nvGrpSpPr>
        <p:grpSpPr>
          <a:xfrm>
            <a:off x="3095625" y="2571750"/>
            <a:ext cx="2571900" cy="1047900"/>
            <a:chOff x="3095625" y="2571750"/>
            <a:chExt cx="2571900" cy="1047900"/>
          </a:xfrm>
        </p:grpSpPr>
        <p:sp>
          <p:nvSpPr>
            <p:cNvPr id="1118" name="Google Shape;1118;p66"/>
            <p:cNvSpPr/>
            <p:nvPr/>
          </p:nvSpPr>
          <p:spPr>
            <a:xfrm>
              <a:off x="3095625" y="2571750"/>
              <a:ext cx="2571900" cy="10479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 txBox="1"/>
            <p:nvPr/>
          </p:nvSpPr>
          <p:spPr>
            <a:xfrm>
              <a:off x="3095625" y="2571750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5</a:t>
              </a:r>
              <a:endParaRPr b="1" sz="833">
                <a:solidFill>
                  <a:srgbClr val="4285F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Risk Analysis</a:t>
              </a:r>
              <a:endParaRPr b="0" sz="1203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Synthetic detection &amp; PEP/AML scanning.</a:t>
              </a:r>
              <a:endParaRPr b="0" sz="925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120" name="Google Shape;1120;p66"/>
          <p:cNvGrpSpPr/>
          <p:nvPr/>
        </p:nvGrpSpPr>
        <p:grpSpPr>
          <a:xfrm>
            <a:off x="5810250" y="2571750"/>
            <a:ext cx="2571900" cy="1047900"/>
            <a:chOff x="5810250" y="2571750"/>
            <a:chExt cx="2571900" cy="1047900"/>
          </a:xfrm>
        </p:grpSpPr>
        <p:sp>
          <p:nvSpPr>
            <p:cNvPr id="1121" name="Google Shape;1121;p66"/>
            <p:cNvSpPr/>
            <p:nvPr/>
          </p:nvSpPr>
          <p:spPr>
            <a:xfrm>
              <a:off x="5810250" y="2571750"/>
              <a:ext cx="2571900" cy="1047900"/>
            </a:xfrm>
            <a:prstGeom prst="roundRect">
              <a:avLst>
                <a:gd fmla="val 9090" name="adj"/>
              </a:avLst>
            </a:prstGeom>
            <a:solidFill>
              <a:srgbClr val="353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6"/>
            <p:cNvSpPr txBox="1"/>
            <p:nvPr/>
          </p:nvSpPr>
          <p:spPr>
            <a:xfrm>
              <a:off x="5810250" y="2571750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EB6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6</a:t>
              </a:r>
              <a:endParaRPr b="1" sz="900">
                <a:solidFill>
                  <a:srgbClr val="FFEB6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Executive Summary</a:t>
              </a:r>
              <a:endParaRPr b="0" sz="13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3DFD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Automated forensic narration.</a:t>
              </a:r>
              <a:endParaRPr b="0" sz="1000">
                <a:solidFill>
                  <a:srgbClr val="E3DFD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123" name="Google Shape;1123;p66"/>
          <p:cNvSpPr txBox="1"/>
          <p:nvPr>
            <p:ph idx="2" type="title"/>
          </p:nvPr>
        </p:nvSpPr>
        <p:spPr>
          <a:xfrm>
            <a:off x="38100" y="95250"/>
            <a:ext cx="1905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rPr>
              <a:t>Team sleepyyy</a:t>
            </a:r>
            <a:endParaRPr b="0" sz="900">
              <a:solidFill>
                <a:srgbClr val="69615E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124" name="Google Shape;1124;p66"/>
          <p:cNvGrpSpPr/>
          <p:nvPr/>
        </p:nvGrpSpPr>
        <p:grpSpPr>
          <a:xfrm>
            <a:off x="571500" y="4000500"/>
            <a:ext cx="8001000" cy="476400"/>
            <a:chOff x="571500" y="4000500"/>
            <a:chExt cx="8001000" cy="476400"/>
          </a:xfrm>
        </p:grpSpPr>
        <p:sp>
          <p:nvSpPr>
            <p:cNvPr id="1125" name="Google Shape;1125;p66"/>
            <p:cNvSpPr/>
            <p:nvPr/>
          </p:nvSpPr>
          <p:spPr>
            <a:xfrm>
              <a:off x="571500" y="4000500"/>
              <a:ext cx="8001000" cy="476400"/>
            </a:xfrm>
            <a:prstGeom prst="roundRect">
              <a:avLst>
                <a:gd fmla="val 50000" name="adj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6"/>
            <p:cNvSpPr txBox="1"/>
            <p:nvPr/>
          </p:nvSpPr>
          <p:spPr>
            <a:xfrm>
              <a:off x="571500" y="40005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Securing Verification with Intelligent Modular Stages</a:t>
              </a:r>
              <a:endParaRPr b="0" sz="12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67"/>
          <p:cNvGrpSpPr/>
          <p:nvPr/>
        </p:nvGrpSpPr>
        <p:grpSpPr>
          <a:xfrm>
            <a:off x="-190500" y="-571500"/>
            <a:ext cx="9906000" cy="5905500"/>
            <a:chOff x="-190500" y="-571500"/>
            <a:chExt cx="9906000" cy="5905500"/>
          </a:xfrm>
        </p:grpSpPr>
        <p:sp>
          <p:nvSpPr>
            <p:cNvPr id="1132" name="Google Shape;1132;p67"/>
            <p:cNvSpPr/>
            <p:nvPr/>
          </p:nvSpPr>
          <p:spPr>
            <a:xfrm>
              <a:off x="7810500" y="-571500"/>
              <a:ext cx="1905000" cy="1905000"/>
            </a:xfrm>
            <a:prstGeom prst="ellipse">
              <a:avLst/>
            </a:prstGeom>
            <a:solidFill>
              <a:srgbClr val="F0B03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7"/>
            <p:cNvSpPr/>
            <p:nvPr/>
          </p:nvSpPr>
          <p:spPr>
            <a:xfrm>
              <a:off x="-190500" y="4191000"/>
              <a:ext cx="1143000" cy="1143000"/>
            </a:xfrm>
            <a:prstGeom prst="ellipse">
              <a:avLst/>
            </a:prstGeom>
            <a:solidFill>
              <a:srgbClr val="41CC6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4" name="Google Shape;1134;p67"/>
          <p:cNvGrpSpPr/>
          <p:nvPr/>
        </p:nvGrpSpPr>
        <p:grpSpPr>
          <a:xfrm>
            <a:off x="381000" y="381000"/>
            <a:ext cx="8382000" cy="752475"/>
            <a:chOff x="381000" y="381000"/>
            <a:chExt cx="8382000" cy="752475"/>
          </a:xfrm>
        </p:grpSpPr>
        <p:sp>
          <p:nvSpPr>
            <p:cNvPr id="1135" name="Google Shape;1135;p67"/>
            <p:cNvSpPr txBox="1"/>
            <p:nvPr/>
          </p:nvSpPr>
          <p:spPr>
            <a:xfrm>
              <a:off x="381000" y="381000"/>
              <a:ext cx="8382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GPT-4o Cross-Document Intelligence</a:t>
              </a:r>
              <a:endParaRPr b="0" sz="32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36" name="Google Shape;1136;p67"/>
            <p:cNvSpPr/>
            <p:nvPr/>
          </p:nvSpPr>
          <p:spPr>
            <a:xfrm>
              <a:off x="381000" y="1095375"/>
              <a:ext cx="571500" cy="38100"/>
            </a:xfrm>
            <a:prstGeom prst="rect">
              <a:avLst/>
            </a:prstGeom>
            <a:solidFill>
              <a:srgbClr val="FF57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7" name="Google Shape;1137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Sleepyyy</a:t>
            </a:r>
            <a:endParaRPr/>
          </a:p>
        </p:txBody>
      </p:sp>
      <p:sp>
        <p:nvSpPr>
          <p:cNvPr id="1138" name="Google Shape;1138;p6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grpSp>
        <p:nvGrpSpPr>
          <p:cNvPr id="1139" name="Google Shape;1139;p67"/>
          <p:cNvGrpSpPr/>
          <p:nvPr/>
        </p:nvGrpSpPr>
        <p:grpSpPr>
          <a:xfrm>
            <a:off x="381000" y="1333500"/>
            <a:ext cx="8382000" cy="2667150"/>
            <a:chOff x="381000" y="1333500"/>
            <a:chExt cx="8382000" cy="2667150"/>
          </a:xfrm>
        </p:grpSpPr>
        <p:grpSp>
          <p:nvGrpSpPr>
            <p:cNvPr id="1140" name="Google Shape;1140;p67"/>
            <p:cNvGrpSpPr/>
            <p:nvPr/>
          </p:nvGrpSpPr>
          <p:grpSpPr>
            <a:xfrm>
              <a:off x="381000" y="1333500"/>
              <a:ext cx="4000500" cy="1238400"/>
              <a:chOff x="381000" y="1333500"/>
              <a:chExt cx="4000500" cy="1238400"/>
            </a:xfrm>
          </p:grpSpPr>
          <p:sp>
            <p:nvSpPr>
              <p:cNvPr id="1141" name="Google Shape;1141;p67"/>
              <p:cNvSpPr/>
              <p:nvPr/>
            </p:nvSpPr>
            <p:spPr>
              <a:xfrm>
                <a:off x="381000" y="1333500"/>
                <a:ext cx="4000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7"/>
              <p:cNvSpPr txBox="1"/>
              <p:nvPr/>
            </p:nvSpPr>
            <p:spPr>
              <a:xfrm>
                <a:off x="381000" y="1333500"/>
                <a:ext cx="4000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285F4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UNIFIED PROMPTING</a:t>
                </a:r>
                <a:endParaRPr b="1" sz="100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Multi-Document Vision Context</a:t>
                </a:r>
                <a:endParaRPr b="0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Aadhaar, PAN, and Utility Bills processed simultaneously in a single vision context for holistic analysis.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43" name="Google Shape;1143;p67"/>
            <p:cNvGrpSpPr/>
            <p:nvPr/>
          </p:nvGrpSpPr>
          <p:grpSpPr>
            <a:xfrm>
              <a:off x="4762500" y="1333500"/>
              <a:ext cx="4000500" cy="1238400"/>
              <a:chOff x="4762500" y="1333500"/>
              <a:chExt cx="4000500" cy="1238400"/>
            </a:xfrm>
          </p:grpSpPr>
          <p:sp>
            <p:nvSpPr>
              <p:cNvPr id="1144" name="Google Shape;1144;p67"/>
              <p:cNvSpPr/>
              <p:nvPr/>
            </p:nvSpPr>
            <p:spPr>
              <a:xfrm>
                <a:off x="4762500" y="1333500"/>
                <a:ext cx="4000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7"/>
              <p:cNvSpPr txBox="1"/>
              <p:nvPr/>
            </p:nvSpPr>
            <p:spPr>
              <a:xfrm>
                <a:off x="4762500" y="1333500"/>
                <a:ext cx="4000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577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BEYOND OCR</a:t>
                </a:r>
                <a:endParaRPr b="1" sz="1000">
                  <a:solidFill>
                    <a:srgbClr val="FF577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Cross-Document Mapping</a:t>
                </a:r>
                <a:endParaRPr b="0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The AI evaluates deep semantic relationships between different documents to detect structural inconsistencies.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46" name="Google Shape;1146;p67"/>
            <p:cNvGrpSpPr/>
            <p:nvPr/>
          </p:nvGrpSpPr>
          <p:grpSpPr>
            <a:xfrm>
              <a:off x="381000" y="2762250"/>
              <a:ext cx="4000500" cy="1238400"/>
              <a:chOff x="381000" y="2762250"/>
              <a:chExt cx="4000500" cy="1238400"/>
            </a:xfrm>
          </p:grpSpPr>
          <p:sp>
            <p:nvSpPr>
              <p:cNvPr id="1147" name="Google Shape;1147;p67"/>
              <p:cNvSpPr/>
              <p:nvPr/>
            </p:nvSpPr>
            <p:spPr>
              <a:xfrm>
                <a:off x="381000" y="2762250"/>
                <a:ext cx="4000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7"/>
              <p:cNvSpPr txBox="1"/>
              <p:nvPr/>
            </p:nvSpPr>
            <p:spPr>
              <a:xfrm>
                <a:off x="381000" y="2762250"/>
                <a:ext cx="4000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1CC6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TYPO RESILIENCE</a:t>
                </a:r>
                <a:endParaRPr b="1" sz="1000">
                  <a:solidFill>
                    <a:srgbClr val="41CC6B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Intelligent Fuzzy Matching</a:t>
                </a:r>
                <a:endParaRPr b="0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Sophisticated matching allows for realistic spelling variations while maintaining strict security and integrity.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49" name="Google Shape;1149;p67"/>
            <p:cNvGrpSpPr/>
            <p:nvPr/>
          </p:nvGrpSpPr>
          <p:grpSpPr>
            <a:xfrm>
              <a:off x="4762500" y="2762250"/>
              <a:ext cx="4000500" cy="1238400"/>
              <a:chOff x="4762500" y="2762250"/>
              <a:chExt cx="4000500" cy="1238400"/>
            </a:xfrm>
          </p:grpSpPr>
          <p:sp>
            <p:nvSpPr>
              <p:cNvPr id="1150" name="Google Shape;1150;p67"/>
              <p:cNvSpPr/>
              <p:nvPr/>
            </p:nvSpPr>
            <p:spPr>
              <a:xfrm>
                <a:off x="4762500" y="2762250"/>
                <a:ext cx="4000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7"/>
              <p:cNvSpPr txBox="1"/>
              <p:nvPr/>
            </p:nvSpPr>
            <p:spPr>
              <a:xfrm>
                <a:off x="4762500" y="2762250"/>
                <a:ext cx="4000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0B03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CONTEXTUAL LOGIC</a:t>
                </a:r>
                <a:endParaRPr b="1" sz="1000">
                  <a:solidFill>
                    <a:srgbClr val="F0B03B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Real-Time Address Verification</a:t>
                </a:r>
                <a:endParaRPr b="0" sz="13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Verifying addresses on utility bills against primary identity documents using real-time reasoning loops.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6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Sleepyyy</a:t>
            </a:r>
            <a:endParaRPr/>
          </a:p>
        </p:txBody>
      </p:sp>
      <p:sp>
        <p:nvSpPr>
          <p:cNvPr id="1157" name="Google Shape;1157;p68"/>
          <p:cNvSpPr txBox="1"/>
          <p:nvPr>
            <p:ph idx="2" type="title"/>
          </p:nvPr>
        </p:nvSpPr>
        <p:spPr>
          <a:xfrm>
            <a:off x="381000" y="381000"/>
            <a:ext cx="8382000" cy="49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WE OVERCAME THEM</a:t>
            </a:r>
            <a:endParaRPr b="0" sz="3600">
              <a:solidFill>
                <a:srgbClr val="35353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8" name="Google Shape;1158;p68"/>
          <p:cNvSpPr/>
          <p:nvPr/>
        </p:nvSpPr>
        <p:spPr>
          <a:xfrm>
            <a:off x="381000" y="1095375"/>
            <a:ext cx="571500" cy="38100"/>
          </a:xfrm>
          <a:prstGeom prst="rect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9" name="Google Shape;1159;p68"/>
          <p:cNvGrpSpPr/>
          <p:nvPr/>
        </p:nvGrpSpPr>
        <p:grpSpPr>
          <a:xfrm>
            <a:off x="381000" y="1333500"/>
            <a:ext cx="8382000" cy="2857500"/>
            <a:chOff x="381000" y="1333500"/>
            <a:chExt cx="8382000" cy="2857500"/>
          </a:xfrm>
        </p:grpSpPr>
        <p:grpSp>
          <p:nvGrpSpPr>
            <p:cNvPr id="1160" name="Google Shape;1160;p68"/>
            <p:cNvGrpSpPr/>
            <p:nvPr/>
          </p:nvGrpSpPr>
          <p:grpSpPr>
            <a:xfrm>
              <a:off x="381000" y="1333500"/>
              <a:ext cx="1600200" cy="2857500"/>
              <a:chOff x="381000" y="1333500"/>
              <a:chExt cx="1600200" cy="2857500"/>
            </a:xfrm>
          </p:grpSpPr>
          <p:sp>
            <p:nvSpPr>
              <p:cNvPr id="1161" name="Google Shape;1161;p68"/>
              <p:cNvSpPr/>
              <p:nvPr/>
            </p:nvSpPr>
            <p:spPr>
              <a:xfrm>
                <a:off x="381000" y="1333500"/>
                <a:ext cx="1600200" cy="2857500"/>
              </a:xfrm>
              <a:prstGeom prst="roundRect">
                <a:avLst>
                  <a:gd fmla="val 7142" name="adj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68"/>
              <p:cNvSpPr txBox="1"/>
              <p:nvPr/>
            </p:nvSpPr>
            <p:spPr>
              <a:xfrm>
                <a:off x="381000" y="1333500"/>
                <a:ext cx="16002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4285F4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SOLUTION 01</a:t>
                </a:r>
                <a:endParaRPr b="1" sz="125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Document Variability</a:t>
                </a:r>
                <a:endParaRPr sz="125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Used Vision-Language Models for flexible extraction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Schema-based output ensures consistency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63" name="Google Shape;1163;p68"/>
            <p:cNvGrpSpPr/>
            <p:nvPr/>
          </p:nvGrpSpPr>
          <p:grpSpPr>
            <a:xfrm>
              <a:off x="2095500" y="1333500"/>
              <a:ext cx="1600200" cy="2857500"/>
              <a:chOff x="2095500" y="1333500"/>
              <a:chExt cx="1600200" cy="2857500"/>
            </a:xfrm>
          </p:grpSpPr>
          <p:sp>
            <p:nvSpPr>
              <p:cNvPr id="1164" name="Google Shape;1164;p68"/>
              <p:cNvSpPr/>
              <p:nvPr/>
            </p:nvSpPr>
            <p:spPr>
              <a:xfrm>
                <a:off x="2095500" y="1333500"/>
                <a:ext cx="1600200" cy="2857500"/>
              </a:xfrm>
              <a:prstGeom prst="roundRect">
                <a:avLst>
                  <a:gd fmla="val 7142" name="adj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68"/>
              <p:cNvSpPr txBox="1"/>
              <p:nvPr/>
            </p:nvSpPr>
            <p:spPr>
              <a:xfrm>
                <a:off x="2095500" y="1333500"/>
                <a:ext cx="16002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41CC6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SOLUTION 02</a:t>
                </a:r>
                <a:endParaRPr b="1" sz="1250">
                  <a:solidFill>
                    <a:srgbClr val="41CC6B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Fraud Detection</a:t>
                </a:r>
                <a:endParaRPr b="0" sz="125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Implemented ELA + EXIF checks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Tampering detected before processing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66" name="Google Shape;1166;p68"/>
            <p:cNvGrpSpPr/>
            <p:nvPr/>
          </p:nvGrpSpPr>
          <p:grpSpPr>
            <a:xfrm>
              <a:off x="3810000" y="1333500"/>
              <a:ext cx="1600200" cy="2857500"/>
              <a:chOff x="3810000" y="1333500"/>
              <a:chExt cx="1600200" cy="2857500"/>
            </a:xfrm>
          </p:grpSpPr>
          <p:sp>
            <p:nvSpPr>
              <p:cNvPr id="1167" name="Google Shape;1167;p68"/>
              <p:cNvSpPr/>
              <p:nvPr/>
            </p:nvSpPr>
            <p:spPr>
              <a:xfrm>
                <a:off x="3810000" y="1333500"/>
                <a:ext cx="1600200" cy="2857500"/>
              </a:xfrm>
              <a:prstGeom prst="roundRect">
                <a:avLst>
                  <a:gd fmla="val 7142" name="adj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68"/>
              <p:cNvSpPr txBox="1"/>
              <p:nvPr/>
            </p:nvSpPr>
            <p:spPr>
              <a:xfrm>
                <a:off x="3810000" y="1333500"/>
                <a:ext cx="16002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F0B03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SOLUTION 03</a:t>
                </a:r>
                <a:endParaRPr b="1" sz="1250">
                  <a:solidFill>
                    <a:srgbClr val="F0B03B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False Positives</a:t>
                </a:r>
                <a:endParaRPr b="0" sz="125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Semantic matching (RapidFuzz)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Confidence thresholds + escalation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69" name="Google Shape;1169;p68"/>
            <p:cNvGrpSpPr/>
            <p:nvPr/>
          </p:nvGrpSpPr>
          <p:grpSpPr>
            <a:xfrm>
              <a:off x="5524500" y="1333500"/>
              <a:ext cx="1600200" cy="2857500"/>
              <a:chOff x="5524500" y="1333500"/>
              <a:chExt cx="1600200" cy="2857500"/>
            </a:xfrm>
          </p:grpSpPr>
          <p:sp>
            <p:nvSpPr>
              <p:cNvPr id="1170" name="Google Shape;1170;p68"/>
              <p:cNvSpPr/>
              <p:nvPr/>
            </p:nvSpPr>
            <p:spPr>
              <a:xfrm>
                <a:off x="5524500" y="1333500"/>
                <a:ext cx="1600200" cy="2857500"/>
              </a:xfrm>
              <a:prstGeom prst="roundRect">
                <a:avLst>
                  <a:gd fmla="val 7142" name="adj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8"/>
              <p:cNvSpPr txBox="1"/>
              <p:nvPr/>
            </p:nvSpPr>
            <p:spPr>
              <a:xfrm>
                <a:off x="5524500" y="1333500"/>
                <a:ext cx="16002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FF577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SOLUTION 04</a:t>
                </a:r>
                <a:endParaRPr b="1" sz="1250">
                  <a:solidFill>
                    <a:srgbClr val="FF577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53535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Explainability</a:t>
                </a:r>
                <a:endParaRPr b="0" sz="125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5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Multi-stage pipeline with reasoning trace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Human-readable justifications</a:t>
                </a:r>
                <a:endParaRPr b="0" sz="100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1172" name="Google Shape;1172;p68"/>
            <p:cNvGrpSpPr/>
            <p:nvPr/>
          </p:nvGrpSpPr>
          <p:grpSpPr>
            <a:xfrm>
              <a:off x="7239000" y="1333500"/>
              <a:ext cx="1524000" cy="2857500"/>
              <a:chOff x="7239000" y="1333500"/>
              <a:chExt cx="1524000" cy="2857500"/>
            </a:xfrm>
          </p:grpSpPr>
          <p:sp>
            <p:nvSpPr>
              <p:cNvPr id="1173" name="Google Shape;1173;p68"/>
              <p:cNvSpPr/>
              <p:nvPr/>
            </p:nvSpPr>
            <p:spPr>
              <a:xfrm>
                <a:off x="7239000" y="1333500"/>
                <a:ext cx="1524000" cy="2857500"/>
              </a:xfrm>
              <a:prstGeom prst="roundRect">
                <a:avLst>
                  <a:gd fmla="val 7500" name="adj"/>
                </a:avLst>
              </a:prstGeom>
              <a:solidFill>
                <a:srgbClr val="3535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8"/>
              <p:cNvSpPr txBox="1"/>
              <p:nvPr/>
            </p:nvSpPr>
            <p:spPr>
              <a:xfrm>
                <a:off x="7239000" y="1333500"/>
                <a:ext cx="1524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FFEB6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SOLUTION 05</a:t>
                </a:r>
                <a:endParaRPr b="1" sz="1250">
                  <a:solidFill>
                    <a:srgbClr val="FFEB6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System Scaling</a:t>
                </a:r>
                <a:endParaRPr b="0" sz="125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5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3DFD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Event-driven (RabbitMQ/Redis)</a:t>
                </a:r>
                <a:endParaRPr b="0" sz="1000">
                  <a:solidFill>
                    <a:srgbClr val="E3DFD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E3DFD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3DFD6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Parallel efficient processing</a:t>
                </a:r>
                <a:endParaRPr b="0" sz="1000">
                  <a:solidFill>
                    <a:srgbClr val="E3DFD6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sp>
        <p:nvSpPr>
          <p:cNvPr id="1175" name="Google Shape;1175;p68"/>
          <p:cNvSpPr/>
          <p:nvPr/>
        </p:nvSpPr>
        <p:spPr>
          <a:xfrm>
            <a:off x="7810500" y="-571500"/>
            <a:ext cx="1905000" cy="1905000"/>
          </a:xfrm>
          <a:prstGeom prst="ellipse">
            <a:avLst/>
          </a:prstGeom>
          <a:solidFill>
            <a:srgbClr val="F0B03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68"/>
          <p:cNvSpPr/>
          <p:nvPr/>
        </p:nvSpPr>
        <p:spPr>
          <a:xfrm>
            <a:off x="-190500" y="4191000"/>
            <a:ext cx="1143000" cy="1143000"/>
          </a:xfrm>
          <a:prstGeom prst="ellipse">
            <a:avLst/>
          </a:prstGeom>
          <a:solidFill>
            <a:srgbClr val="41CC6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1" name="Google Shape;11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00" y="152400"/>
            <a:ext cx="3131662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887" y="152400"/>
            <a:ext cx="419144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70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188" name="Google Shape;1188;p70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189" name="Google Shape;1189;p70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190" name="Google Shape;1190;p70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191" name="Google Shape;1191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192" name="Google Shape;1192;p70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193" name="Google Shape;1193;p7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194" name="Google Shape;1194;p7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195" name="Google Shape;1195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196" name="Google Shape;1196;p70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197" name="Google Shape;1197;p70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198" name="Google Shape;1198;p7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199" name="Google Shape;1199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200" name="Google Shape;1200;p70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201" name="Google Shape;1201;p70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202" name="Google Shape;1202;p7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203" name="Google Shape;1203;p70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204" name="Google Shape;1204;p70"/>
          <p:cNvSpPr txBox="1"/>
          <p:nvPr>
            <p:ph idx="14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grpSp>
        <p:nvGrpSpPr>
          <p:cNvPr id="1205" name="Google Shape;1205;p70"/>
          <p:cNvGrpSpPr/>
          <p:nvPr/>
        </p:nvGrpSpPr>
        <p:grpSpPr>
          <a:xfrm>
            <a:off x="381000" y="381000"/>
            <a:ext cx="8382000" cy="657225"/>
            <a:chOff x="381000" y="381000"/>
            <a:chExt cx="8382000" cy="657225"/>
          </a:xfrm>
        </p:grpSpPr>
        <p:sp>
          <p:nvSpPr>
            <p:cNvPr id="1206" name="Google Shape;1206;p70"/>
            <p:cNvSpPr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70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Measuring the Success of VerifAI</a:t>
              </a:r>
              <a:endParaRPr b="0" sz="32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08" name="Google Shape;1208;p70"/>
            <p:cNvSpPr/>
            <p:nvPr/>
          </p:nvSpPr>
          <p:spPr>
            <a:xfrm>
              <a:off x="381000" y="1000125"/>
              <a:ext cx="571500" cy="381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9" name="Google Shape;1209;p70"/>
          <p:cNvGrpSpPr/>
          <p:nvPr/>
        </p:nvGrpSpPr>
        <p:grpSpPr>
          <a:xfrm>
            <a:off x="381000" y="1238250"/>
            <a:ext cx="2571900" cy="1428900"/>
            <a:chOff x="381000" y="1238250"/>
            <a:chExt cx="2571900" cy="1428900"/>
          </a:xfrm>
        </p:grpSpPr>
        <p:sp>
          <p:nvSpPr>
            <p:cNvPr id="1210" name="Google Shape;1210;p70"/>
            <p:cNvSpPr/>
            <p:nvPr/>
          </p:nvSpPr>
          <p:spPr>
            <a:xfrm>
              <a:off x="381000" y="123825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70"/>
            <p:cNvSpPr txBox="1"/>
            <p:nvPr/>
          </p:nvSpPr>
          <p:spPr>
            <a:xfrm>
              <a:off x="381000" y="1238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85F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01. ACCURACY &amp; DECISION</a:t>
              </a:r>
              <a:endParaRPr b="1" sz="800">
                <a:solidFill>
                  <a:srgbClr val="4285F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Decision Quality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False rejection rate </a:t>
              </a:r>
              <a:r>
                <a:rPr b="1"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&lt;10%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 AI vs ground truth alignment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Approve / Escalate / Reject balance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12" name="Google Shape;1212;p70"/>
          <p:cNvGrpSpPr/>
          <p:nvPr/>
        </p:nvGrpSpPr>
        <p:grpSpPr>
          <a:xfrm>
            <a:off x="3095625" y="1238250"/>
            <a:ext cx="2571900" cy="1428900"/>
            <a:chOff x="3095625" y="1238250"/>
            <a:chExt cx="2571900" cy="1428900"/>
          </a:xfrm>
        </p:grpSpPr>
        <p:sp>
          <p:nvSpPr>
            <p:cNvPr id="1213" name="Google Shape;1213;p70"/>
            <p:cNvSpPr/>
            <p:nvPr/>
          </p:nvSpPr>
          <p:spPr>
            <a:xfrm>
              <a:off x="3095625" y="123825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70"/>
            <p:cNvSpPr txBox="1"/>
            <p:nvPr/>
          </p:nvSpPr>
          <p:spPr>
            <a:xfrm>
              <a:off x="3095625" y="1238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577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02. FRAUD DETECTION</a:t>
              </a:r>
              <a:endParaRPr b="1" sz="800">
                <a:solidFill>
                  <a:srgbClr val="FF577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Performance Metrics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Tampering detection (ELA accuracy)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Stage 1 effectiveness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Reduced fraud leakage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15" name="Google Shape;1215;p70"/>
          <p:cNvGrpSpPr/>
          <p:nvPr/>
        </p:nvGrpSpPr>
        <p:grpSpPr>
          <a:xfrm>
            <a:off x="5810250" y="1238250"/>
            <a:ext cx="2571900" cy="1428900"/>
            <a:chOff x="5810250" y="1238250"/>
            <a:chExt cx="2571900" cy="1428900"/>
          </a:xfrm>
        </p:grpSpPr>
        <p:sp>
          <p:nvSpPr>
            <p:cNvPr id="1216" name="Google Shape;1216;p70"/>
            <p:cNvSpPr/>
            <p:nvPr/>
          </p:nvSpPr>
          <p:spPr>
            <a:xfrm>
              <a:off x="5810250" y="123825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70"/>
            <p:cNvSpPr txBox="1"/>
            <p:nvPr/>
          </p:nvSpPr>
          <p:spPr>
            <a:xfrm>
              <a:off x="5810250" y="1238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1CC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03. OPERATIONAL EFFICIENCY</a:t>
              </a:r>
              <a:endParaRPr b="1" sz="800">
                <a:solidFill>
                  <a:srgbClr val="41CC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Speed &amp; Automation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Verification </a:t>
              </a:r>
              <a:r>
                <a:rPr b="1"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&lt;10 seconds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70–80% manual work reduction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Faster onboarding pipeline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18" name="Google Shape;1218;p70"/>
          <p:cNvGrpSpPr/>
          <p:nvPr/>
        </p:nvGrpSpPr>
        <p:grpSpPr>
          <a:xfrm>
            <a:off x="1733550" y="2809875"/>
            <a:ext cx="2571900" cy="1428900"/>
            <a:chOff x="1733550" y="2809875"/>
            <a:chExt cx="2571900" cy="1428900"/>
          </a:xfrm>
        </p:grpSpPr>
        <p:sp>
          <p:nvSpPr>
            <p:cNvPr id="1219" name="Google Shape;1219;p70"/>
            <p:cNvSpPr/>
            <p:nvPr/>
          </p:nvSpPr>
          <p:spPr>
            <a:xfrm>
              <a:off x="1733550" y="280987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70"/>
            <p:cNvSpPr txBox="1"/>
            <p:nvPr/>
          </p:nvSpPr>
          <p:spPr>
            <a:xfrm>
              <a:off x="1733550" y="2809875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0B03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04. COMPLIANCE</a:t>
              </a:r>
              <a:endParaRPr b="1" sz="800">
                <a:solidFill>
                  <a:srgbClr val="F0B03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Explainability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100% reasoning trace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Clear rule-level justifications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Audit-ready regulatory outputs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21" name="Google Shape;1221;p70"/>
          <p:cNvGrpSpPr/>
          <p:nvPr/>
        </p:nvGrpSpPr>
        <p:grpSpPr>
          <a:xfrm>
            <a:off x="4457700" y="2809875"/>
            <a:ext cx="2571900" cy="1428900"/>
            <a:chOff x="4457700" y="2809875"/>
            <a:chExt cx="2571900" cy="1428900"/>
          </a:xfrm>
        </p:grpSpPr>
        <p:sp>
          <p:nvSpPr>
            <p:cNvPr id="1222" name="Google Shape;1222;p70"/>
            <p:cNvSpPr/>
            <p:nvPr/>
          </p:nvSpPr>
          <p:spPr>
            <a:xfrm>
              <a:off x="4457700" y="280987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70"/>
            <p:cNvSpPr txBox="1"/>
            <p:nvPr/>
          </p:nvSpPr>
          <p:spPr>
            <a:xfrm>
              <a:off x="4457700" y="2809875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35353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05. SYSTEM PERFORMANCE</a:t>
              </a:r>
              <a:endParaRPr b="1" sz="8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Scalability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Concurrent request handling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Stable latency under load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850"/>
                <a:buFont typeface="IBM Plex Sans"/>
                <a:buChar char="●"/>
              </a:pPr>
              <a:r>
                <a:rPr lang="en" sz="8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Fault-tolerant architecture</a:t>
              </a:r>
              <a:endParaRPr sz="8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24" name="Google Shape;1224;p70"/>
          <p:cNvGrpSpPr/>
          <p:nvPr/>
        </p:nvGrpSpPr>
        <p:grpSpPr>
          <a:xfrm>
            <a:off x="381000" y="4381500"/>
            <a:ext cx="8382000" cy="381000"/>
            <a:chOff x="381000" y="4381500"/>
            <a:chExt cx="8382000" cy="381000"/>
          </a:xfrm>
        </p:grpSpPr>
        <p:sp>
          <p:nvSpPr>
            <p:cNvPr id="1225" name="Google Shape;1225;p70"/>
            <p:cNvSpPr/>
            <p:nvPr/>
          </p:nvSpPr>
          <p:spPr>
            <a:xfrm>
              <a:off x="381000" y="4381500"/>
              <a:ext cx="8382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70"/>
            <p:cNvSpPr txBox="1"/>
            <p:nvPr/>
          </p:nvSpPr>
          <p:spPr>
            <a:xfrm>
              <a:off x="381000" y="4381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3535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Success is building a system that is reliable, explainable, and scalable in real-world conditions.</a:t>
              </a:r>
              <a:endParaRPr b="0" sz="1100">
                <a:solidFill>
                  <a:srgbClr val="35353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1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